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6858000" cy="12192000"/>
  <p:notesSz cx="6858000" cy="9144000"/>
  <p:defaultTextStyle>
    <a:defPPr>
      <a:defRPr lang="en-US"/>
    </a:defPPr>
    <a:lvl1pPr marL="0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95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89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86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779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974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168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361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560" algn="l" defTabSz="45719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48C"/>
    <a:srgbClr val="8B8FC0"/>
    <a:srgbClr val="9B4393"/>
    <a:srgbClr val="C38EBE"/>
    <a:srgbClr val="91CEEB"/>
    <a:srgbClr val="C1DD93"/>
    <a:srgbClr val="B3D7F2"/>
    <a:srgbClr val="80BCEA"/>
    <a:srgbClr val="BBD988"/>
    <a:srgbClr val="82B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70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30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36626-1BC6-472E-8319-CDDADF55FDD9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767BF-F4C6-4DE9-8989-3CBC1D574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78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86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66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48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8C0D8-0CBC-DAF8-1E65-B4C78045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4625B-502A-477F-B5D2-C710319C0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80C8E-48A4-6C5C-3A3E-BCCC948CE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6304F-1E3F-2802-73D6-6057A6F79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767BF-F4C6-4DE9-8989-3CBC1D5743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97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3" y="1995318"/>
            <a:ext cx="5829299" cy="4244622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2" y="6403631"/>
            <a:ext cx="5143501" cy="2943578"/>
          </a:xfrm>
        </p:spPr>
        <p:txBody>
          <a:bodyPr/>
          <a:lstStyle>
            <a:lvl1pPr marL="0" indent="0" algn="ctr">
              <a:buNone/>
              <a:defRPr sz="1799"/>
            </a:lvl1pPr>
            <a:lvl2pPr marL="342966" indent="0" algn="ctr">
              <a:buNone/>
              <a:defRPr sz="1501"/>
            </a:lvl2pPr>
            <a:lvl3pPr marL="685930" indent="0" algn="ctr">
              <a:buNone/>
              <a:defRPr sz="1350"/>
            </a:lvl3pPr>
            <a:lvl4pPr marL="1028895" indent="0" algn="ctr">
              <a:buNone/>
              <a:defRPr sz="1201"/>
            </a:lvl4pPr>
            <a:lvl5pPr marL="1371861" indent="0" algn="ctr">
              <a:buNone/>
              <a:defRPr sz="1201"/>
            </a:lvl5pPr>
            <a:lvl6pPr marL="1714827" indent="0" algn="ctr">
              <a:buNone/>
              <a:defRPr sz="1201"/>
            </a:lvl6pPr>
            <a:lvl7pPr marL="2057791" indent="0" algn="ctr">
              <a:buNone/>
              <a:defRPr sz="1201"/>
            </a:lvl7pPr>
            <a:lvl8pPr marL="2400756" indent="0" algn="ctr">
              <a:buNone/>
              <a:defRPr sz="1201"/>
            </a:lvl8pPr>
            <a:lvl9pPr marL="2743722" indent="0" algn="ctr">
              <a:buNone/>
              <a:defRPr sz="12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55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59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3039538"/>
            <a:ext cx="5915025" cy="5071534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8159056"/>
            <a:ext cx="5915025" cy="2666999"/>
          </a:xfrm>
        </p:spPr>
        <p:txBody>
          <a:bodyPr/>
          <a:lstStyle>
            <a:lvl1pPr marL="0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1pPr>
            <a:lvl2pPr marL="342966" indent="0">
              <a:buNone/>
              <a:defRPr sz="1501">
                <a:solidFill>
                  <a:schemeClr val="tx1">
                    <a:tint val="82000"/>
                  </a:schemeClr>
                </a:solidFill>
              </a:defRPr>
            </a:lvl2pPr>
            <a:lvl3pPr marL="68593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895" indent="0">
              <a:buNone/>
              <a:defRPr sz="1201">
                <a:solidFill>
                  <a:schemeClr val="tx1">
                    <a:tint val="82000"/>
                  </a:schemeClr>
                </a:solidFill>
              </a:defRPr>
            </a:lvl4pPr>
            <a:lvl5pPr marL="1371861" indent="0">
              <a:buNone/>
              <a:defRPr sz="1201">
                <a:solidFill>
                  <a:schemeClr val="tx1">
                    <a:tint val="82000"/>
                  </a:schemeClr>
                </a:solidFill>
              </a:defRPr>
            </a:lvl5pPr>
            <a:lvl6pPr marL="1714827" indent="0">
              <a:buNone/>
              <a:defRPr sz="1201">
                <a:solidFill>
                  <a:schemeClr val="tx1">
                    <a:tint val="82000"/>
                  </a:schemeClr>
                </a:solidFill>
              </a:defRPr>
            </a:lvl6pPr>
            <a:lvl7pPr marL="2057791" indent="0">
              <a:buNone/>
              <a:defRPr sz="1201">
                <a:solidFill>
                  <a:schemeClr val="tx1">
                    <a:tint val="82000"/>
                  </a:schemeClr>
                </a:solidFill>
              </a:defRPr>
            </a:lvl7pPr>
            <a:lvl8pPr marL="2400756" indent="0">
              <a:buNone/>
              <a:defRPr sz="1201">
                <a:solidFill>
                  <a:schemeClr val="tx1">
                    <a:tint val="82000"/>
                  </a:schemeClr>
                </a:solidFill>
              </a:defRPr>
            </a:lvl8pPr>
            <a:lvl9pPr marL="2743722" indent="0">
              <a:buNone/>
              <a:defRPr sz="12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24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3245554"/>
            <a:ext cx="2914651" cy="77357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4" y="3245554"/>
            <a:ext cx="2914651" cy="77357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78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7"/>
            <a:ext cx="5915025" cy="23565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4" y="2988740"/>
            <a:ext cx="2901253" cy="1464733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966" indent="0">
              <a:buNone/>
              <a:defRPr sz="1501" b="1"/>
            </a:lvl2pPr>
            <a:lvl3pPr marL="685930" indent="0">
              <a:buNone/>
              <a:defRPr sz="1350" b="1"/>
            </a:lvl3pPr>
            <a:lvl4pPr marL="1028895" indent="0">
              <a:buNone/>
              <a:defRPr sz="1201" b="1"/>
            </a:lvl4pPr>
            <a:lvl5pPr marL="1371861" indent="0">
              <a:buNone/>
              <a:defRPr sz="1201" b="1"/>
            </a:lvl5pPr>
            <a:lvl6pPr marL="1714827" indent="0">
              <a:buNone/>
              <a:defRPr sz="1201" b="1"/>
            </a:lvl6pPr>
            <a:lvl7pPr marL="2057791" indent="0">
              <a:buNone/>
              <a:defRPr sz="1201" b="1"/>
            </a:lvl7pPr>
            <a:lvl8pPr marL="2400756" indent="0">
              <a:buNone/>
              <a:defRPr sz="1201" b="1"/>
            </a:lvl8pPr>
            <a:lvl9pPr marL="2743722" indent="0">
              <a:buNone/>
              <a:defRPr sz="12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4" y="4453470"/>
            <a:ext cx="2901253" cy="655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40"/>
            <a:ext cx="2915543" cy="1464733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966" indent="0">
              <a:buNone/>
              <a:defRPr sz="1501" b="1"/>
            </a:lvl2pPr>
            <a:lvl3pPr marL="685930" indent="0">
              <a:buNone/>
              <a:defRPr sz="1350" b="1"/>
            </a:lvl3pPr>
            <a:lvl4pPr marL="1028895" indent="0">
              <a:buNone/>
              <a:defRPr sz="1201" b="1"/>
            </a:lvl4pPr>
            <a:lvl5pPr marL="1371861" indent="0">
              <a:buNone/>
              <a:defRPr sz="1201" b="1"/>
            </a:lvl5pPr>
            <a:lvl6pPr marL="1714827" indent="0">
              <a:buNone/>
              <a:defRPr sz="1201" b="1"/>
            </a:lvl6pPr>
            <a:lvl7pPr marL="2057791" indent="0">
              <a:buNone/>
              <a:defRPr sz="1201" b="1"/>
            </a:lvl7pPr>
            <a:lvl8pPr marL="2400756" indent="0">
              <a:buNone/>
              <a:defRPr sz="1201" b="1"/>
            </a:lvl8pPr>
            <a:lvl9pPr marL="2743722" indent="0">
              <a:buNone/>
              <a:defRPr sz="12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70"/>
            <a:ext cx="2915543" cy="655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43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75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54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812802"/>
            <a:ext cx="2211886" cy="28448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755427"/>
            <a:ext cx="3471863" cy="8664223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799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3657601"/>
            <a:ext cx="2211886" cy="6776157"/>
          </a:xfrm>
        </p:spPr>
        <p:txBody>
          <a:bodyPr/>
          <a:lstStyle>
            <a:lvl1pPr marL="0" indent="0">
              <a:buNone/>
              <a:defRPr sz="1201"/>
            </a:lvl1pPr>
            <a:lvl2pPr marL="342966" indent="0">
              <a:buNone/>
              <a:defRPr sz="1050"/>
            </a:lvl2pPr>
            <a:lvl3pPr marL="685930" indent="0">
              <a:buNone/>
              <a:defRPr sz="901"/>
            </a:lvl3pPr>
            <a:lvl4pPr marL="1028895" indent="0">
              <a:buNone/>
              <a:defRPr sz="749"/>
            </a:lvl4pPr>
            <a:lvl5pPr marL="1371861" indent="0">
              <a:buNone/>
              <a:defRPr sz="749"/>
            </a:lvl5pPr>
            <a:lvl6pPr marL="1714827" indent="0">
              <a:buNone/>
              <a:defRPr sz="749"/>
            </a:lvl6pPr>
            <a:lvl7pPr marL="2057791" indent="0">
              <a:buNone/>
              <a:defRPr sz="749"/>
            </a:lvl7pPr>
            <a:lvl8pPr marL="2400756" indent="0">
              <a:buNone/>
              <a:defRPr sz="749"/>
            </a:lvl8pPr>
            <a:lvl9pPr marL="2743722" indent="0">
              <a:buNone/>
              <a:defRPr sz="7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2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812802"/>
            <a:ext cx="2211886" cy="28448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755427"/>
            <a:ext cx="3471863" cy="866422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66" indent="0">
              <a:buNone/>
              <a:defRPr sz="2099"/>
            </a:lvl2pPr>
            <a:lvl3pPr marL="685930" indent="0">
              <a:buNone/>
              <a:defRPr sz="1799"/>
            </a:lvl3pPr>
            <a:lvl4pPr marL="1028895" indent="0">
              <a:buNone/>
              <a:defRPr sz="1501"/>
            </a:lvl4pPr>
            <a:lvl5pPr marL="1371861" indent="0">
              <a:buNone/>
              <a:defRPr sz="1501"/>
            </a:lvl5pPr>
            <a:lvl6pPr marL="1714827" indent="0">
              <a:buNone/>
              <a:defRPr sz="1501"/>
            </a:lvl6pPr>
            <a:lvl7pPr marL="2057791" indent="0">
              <a:buNone/>
              <a:defRPr sz="1501"/>
            </a:lvl7pPr>
            <a:lvl8pPr marL="2400756" indent="0">
              <a:buNone/>
              <a:defRPr sz="1501"/>
            </a:lvl8pPr>
            <a:lvl9pPr marL="2743722" indent="0">
              <a:buNone/>
              <a:defRPr sz="150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3657601"/>
            <a:ext cx="2211886" cy="6776157"/>
          </a:xfrm>
        </p:spPr>
        <p:txBody>
          <a:bodyPr/>
          <a:lstStyle>
            <a:lvl1pPr marL="0" indent="0">
              <a:buNone/>
              <a:defRPr sz="1201"/>
            </a:lvl1pPr>
            <a:lvl2pPr marL="342966" indent="0">
              <a:buNone/>
              <a:defRPr sz="1050"/>
            </a:lvl2pPr>
            <a:lvl3pPr marL="685930" indent="0">
              <a:buNone/>
              <a:defRPr sz="901"/>
            </a:lvl3pPr>
            <a:lvl4pPr marL="1028895" indent="0">
              <a:buNone/>
              <a:defRPr sz="749"/>
            </a:lvl4pPr>
            <a:lvl5pPr marL="1371861" indent="0">
              <a:buNone/>
              <a:defRPr sz="749"/>
            </a:lvl5pPr>
            <a:lvl6pPr marL="1714827" indent="0">
              <a:buNone/>
              <a:defRPr sz="749"/>
            </a:lvl6pPr>
            <a:lvl7pPr marL="2057791" indent="0">
              <a:buNone/>
              <a:defRPr sz="749"/>
            </a:lvl7pPr>
            <a:lvl8pPr marL="2400756" indent="0">
              <a:buNone/>
              <a:defRPr sz="749"/>
            </a:lvl8pPr>
            <a:lvl9pPr marL="2743722" indent="0">
              <a:buNone/>
              <a:defRPr sz="7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1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28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649120"/>
            <a:ext cx="1478754" cy="103321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90" y="649120"/>
            <a:ext cx="4350545" cy="103321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64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649117"/>
            <a:ext cx="5915025" cy="2356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3245554"/>
            <a:ext cx="5915025" cy="773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9" y="11300187"/>
            <a:ext cx="154305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8F9B-3098-426B-AD13-02A84A0CD4E4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11300187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6" y="11300187"/>
            <a:ext cx="154305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05D5B-2887-4337-951B-2588AE0955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92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93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81" indent="-171481" algn="l" defTabSz="685930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445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857415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379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343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310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277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238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01" indent="-171481" algn="l" defTabSz="68593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66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30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95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861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827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791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756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722" algn="l" defTabSz="68593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00D1-35CB-5E2A-54B9-A7B4422A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60D39BB-BA73-ACA9-65C3-042A7B1E2E50}"/>
              </a:ext>
            </a:extLst>
          </p:cNvPr>
          <p:cNvSpPr/>
          <p:nvPr/>
        </p:nvSpPr>
        <p:spPr>
          <a:xfrm>
            <a:off x="-2371668" y="1912991"/>
            <a:ext cx="12817929" cy="7968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DAA0ADD-9D86-938F-A366-7C73D58F2453}"/>
              </a:ext>
            </a:extLst>
          </p:cNvPr>
          <p:cNvSpPr txBox="1"/>
          <p:nvPr/>
        </p:nvSpPr>
        <p:spPr>
          <a:xfrm>
            <a:off x="-2195400" y="2164703"/>
            <a:ext cx="6814234" cy="119181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Dementia PDS R Shiny Dashboard Flowchart</a:t>
            </a:r>
          </a:p>
          <a:p>
            <a:pPr algn="ctr"/>
            <a:endParaRPr lang="en-GB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GB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FA4B5F-87F6-F026-8B9F-2322661BF8E4}"/>
              </a:ext>
            </a:extLst>
          </p:cNvPr>
          <p:cNvSpPr/>
          <p:nvPr/>
        </p:nvSpPr>
        <p:spPr>
          <a:xfrm>
            <a:off x="-2195400" y="4439920"/>
            <a:ext cx="5904519" cy="4744719"/>
          </a:xfrm>
          <a:prstGeom prst="roundRect">
            <a:avLst>
              <a:gd name="adj" fmla="val 5058"/>
            </a:avLst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580CD-A486-2A17-5A9A-31E970CEED57}"/>
              </a:ext>
            </a:extLst>
          </p:cNvPr>
          <p:cNvSpPr txBox="1"/>
          <p:nvPr/>
        </p:nvSpPr>
        <p:spPr>
          <a:xfrm>
            <a:off x="325704" y="8580278"/>
            <a:ext cx="798582" cy="408906"/>
          </a:xfrm>
          <a:prstGeom prst="roundRect">
            <a:avLst/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79B19-FD28-A8FC-DA80-322DC4C32827}"/>
              </a:ext>
            </a:extLst>
          </p:cNvPr>
          <p:cNvSpPr txBox="1"/>
          <p:nvPr/>
        </p:nvSpPr>
        <p:spPr>
          <a:xfrm>
            <a:off x="4377958" y="9076483"/>
            <a:ext cx="1554269" cy="542621"/>
          </a:xfrm>
          <a:prstGeom prst="roundRect">
            <a:avLst>
              <a:gd name="adj" fmla="val 12327"/>
            </a:avLst>
          </a:prstGeom>
          <a:solidFill>
            <a:srgbClr val="9B4393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deploy_app</a:t>
            </a:r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</a:p>
          <a:p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3_DEPLOY_APP.R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16D2C-3C91-B24C-BD9E-D0976BCAE5FE}"/>
              </a:ext>
            </a:extLst>
          </p:cNvPr>
          <p:cNvSpPr txBox="1"/>
          <p:nvPr/>
        </p:nvSpPr>
        <p:spPr>
          <a:xfrm>
            <a:off x="3828257" y="7500642"/>
            <a:ext cx="2600035" cy="562282"/>
          </a:xfrm>
          <a:prstGeom prst="roundRect">
            <a:avLst/>
          </a:prstGeom>
          <a:solidFill>
            <a:srgbClr val="9B4393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deploy_app</a:t>
            </a:r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</a:p>
          <a:p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2_CREATE_ADMIN_CREDENTIALS.R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61EC9-95AD-CF87-9291-C98A8BC8E43D}"/>
              </a:ext>
            </a:extLst>
          </p:cNvPr>
          <p:cNvSpPr txBox="1"/>
          <p:nvPr/>
        </p:nvSpPr>
        <p:spPr>
          <a:xfrm>
            <a:off x="2141451" y="7511833"/>
            <a:ext cx="1364476" cy="542621"/>
          </a:xfrm>
          <a:prstGeom prst="roundRect">
            <a:avLst>
              <a:gd name="adj" fmla="val 12327"/>
            </a:avLst>
          </a:prstGeom>
          <a:solidFill>
            <a:srgbClr val="BBD988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admin/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credentials.rds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C4BD4-8583-9A8F-B5F2-63E25DADB710}"/>
              </a:ext>
            </a:extLst>
          </p:cNvPr>
          <p:cNvSpPr txBox="1"/>
          <p:nvPr/>
        </p:nvSpPr>
        <p:spPr>
          <a:xfrm>
            <a:off x="4255170" y="5259983"/>
            <a:ext cx="1740565" cy="562282"/>
          </a:xfrm>
          <a:prstGeom prst="roundRect">
            <a:avLst/>
          </a:prstGeom>
          <a:solidFill>
            <a:srgbClr val="9B4393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deploy_app</a:t>
            </a:r>
            <a:r>
              <a:rPr lang="en-GB" sz="90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</a:p>
          <a:p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1_PREPARE_DATA.R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44DD4-A7D2-3FAA-462D-AEBCD0D5553B}"/>
              </a:ext>
            </a:extLst>
          </p:cNvPr>
          <p:cNvSpPr txBox="1"/>
          <p:nvPr/>
        </p:nvSpPr>
        <p:spPr>
          <a:xfrm>
            <a:off x="6393464" y="6494767"/>
            <a:ext cx="1966039" cy="562282"/>
          </a:xfrm>
          <a:prstGeom prst="roundRect">
            <a:avLst/>
          </a:prstGeom>
          <a:solidFill>
            <a:srgbClr val="91CEEB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deploy_app</a:t>
            </a:r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prepare_data_functions.R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8B67F-4946-A08C-9FF7-B03956838EAE}"/>
              </a:ext>
            </a:extLst>
          </p:cNvPr>
          <p:cNvSpPr txBox="1"/>
          <p:nvPr/>
        </p:nvSpPr>
        <p:spPr>
          <a:xfrm>
            <a:off x="1288440" y="4646210"/>
            <a:ext cx="2217487" cy="1789828"/>
          </a:xfrm>
          <a:prstGeom prst="roundRect">
            <a:avLst>
              <a:gd name="adj" fmla="val 4508"/>
            </a:avLst>
          </a:prstGeom>
          <a:solidFill>
            <a:srgbClr val="BBD98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data/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annual_table_data.rds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data_age.rds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data_rates.rds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data_sex.rds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data_simd.rds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data_wait.rds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download_data_hb.rds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download_data_ijb.rds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download_data_scotland.rds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dashboard_variables.RData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A0F6FE-0507-F0D8-08C0-B7EBA4840816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3505927" y="7781783"/>
            <a:ext cx="322330" cy="13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8BB229A-D19A-997D-F96B-382EEE4A47BC}"/>
              </a:ext>
            </a:extLst>
          </p:cNvPr>
          <p:cNvSpPr txBox="1"/>
          <p:nvPr/>
        </p:nvSpPr>
        <p:spPr>
          <a:xfrm>
            <a:off x="-471939" y="5739148"/>
            <a:ext cx="1489839" cy="696890"/>
          </a:xfrm>
          <a:prstGeom prst="roundRect">
            <a:avLst>
              <a:gd name="adj" fmla="val 12405"/>
            </a:avLst>
          </a:prstGeom>
          <a:solidFill>
            <a:srgbClr val="91CEEB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functions/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core_functions.R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plot_functions.R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F98C9C-4096-D17C-DC2A-21E93AAB3A0E}"/>
              </a:ext>
            </a:extLst>
          </p:cNvPr>
          <p:cNvSpPr txBox="1"/>
          <p:nvPr/>
        </p:nvSpPr>
        <p:spPr>
          <a:xfrm>
            <a:off x="-405106" y="6675594"/>
            <a:ext cx="1450251" cy="1378860"/>
          </a:xfrm>
          <a:prstGeom prst="roundRect">
            <a:avLst>
              <a:gd name="adj" fmla="val 5554"/>
            </a:avLst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pages/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demographics.R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intro_page.R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ldp_standard.R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methodology.R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pathways.R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rates.R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9E849F-DB11-0D8D-9A9A-2AAD319FBB9F}"/>
              </a:ext>
            </a:extLst>
          </p:cNvPr>
          <p:cNvSpPr txBox="1"/>
          <p:nvPr/>
        </p:nvSpPr>
        <p:spPr>
          <a:xfrm>
            <a:off x="1190646" y="7645548"/>
            <a:ext cx="805304" cy="408906"/>
          </a:xfrm>
          <a:prstGeom prst="roundRect">
            <a:avLst/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setup.R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051065-F882-ACEB-AF33-0511385927C2}"/>
              </a:ext>
            </a:extLst>
          </p:cNvPr>
          <p:cNvSpPr txBox="1"/>
          <p:nvPr/>
        </p:nvSpPr>
        <p:spPr>
          <a:xfrm>
            <a:off x="-1967867" y="7085669"/>
            <a:ext cx="1417260" cy="968785"/>
          </a:xfrm>
          <a:prstGeom prst="roundRect">
            <a:avLst>
              <a:gd name="adj" fmla="val 8615"/>
            </a:avLst>
          </a:prstGeom>
          <a:solidFill>
            <a:srgbClr val="BBD988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www/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app.js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favicon_phs.ico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phs-logo.png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styles.css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6B1994-EE2D-AE64-34D5-849E8745B405}"/>
              </a:ext>
            </a:extLst>
          </p:cNvPr>
          <p:cNvSpPr txBox="1"/>
          <p:nvPr/>
        </p:nvSpPr>
        <p:spPr>
          <a:xfrm>
            <a:off x="-1791515" y="2776667"/>
            <a:ext cx="600282" cy="340377"/>
          </a:xfrm>
          <a:prstGeom prst="roundRect">
            <a:avLst/>
          </a:prstGeom>
          <a:solidFill>
            <a:srgbClr val="C1DD93"/>
          </a:solidFill>
          <a:ln w="19050">
            <a:solidFill>
              <a:schemeClr val="tx1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1399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633BA9-71DB-2072-EAA9-D9F2C3F92E90}"/>
              </a:ext>
            </a:extLst>
          </p:cNvPr>
          <p:cNvSpPr txBox="1"/>
          <p:nvPr/>
        </p:nvSpPr>
        <p:spPr>
          <a:xfrm>
            <a:off x="-1042807" y="2776667"/>
            <a:ext cx="1067565" cy="340377"/>
          </a:xfrm>
          <a:prstGeom prst="roundRect">
            <a:avLst/>
          </a:prstGeom>
          <a:solidFill>
            <a:srgbClr val="91CEEB"/>
          </a:solidFill>
          <a:ln w="19050">
            <a:solidFill>
              <a:schemeClr val="tx1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399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60F66E-5564-3512-0707-729E8FE07529}"/>
              </a:ext>
            </a:extLst>
          </p:cNvPr>
          <p:cNvSpPr txBox="1"/>
          <p:nvPr/>
        </p:nvSpPr>
        <p:spPr>
          <a:xfrm>
            <a:off x="173187" y="2776670"/>
            <a:ext cx="662461" cy="340377"/>
          </a:xfrm>
          <a:prstGeom prst="roundRect">
            <a:avLst/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399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C51369-8121-57AA-C256-AF80583EB7B3}"/>
              </a:ext>
            </a:extLst>
          </p:cNvPr>
          <p:cNvSpPr txBox="1"/>
          <p:nvPr/>
        </p:nvSpPr>
        <p:spPr>
          <a:xfrm>
            <a:off x="6393464" y="4035772"/>
            <a:ext cx="2142512" cy="562282"/>
          </a:xfrm>
          <a:prstGeom prst="roundRect">
            <a:avLst/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publication/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00_setup-pub-environment.R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BC5AFD-E4C5-E606-8FA6-1B4ED70E2FF9}"/>
              </a:ext>
            </a:extLst>
          </p:cNvPr>
          <p:cNvSpPr txBox="1"/>
          <p:nvPr/>
        </p:nvSpPr>
        <p:spPr>
          <a:xfrm>
            <a:off x="6393464" y="4773219"/>
            <a:ext cx="2436634" cy="1535810"/>
          </a:xfrm>
          <a:prstGeom prst="roundRect">
            <a:avLst>
              <a:gd name="adj" fmla="val 6753"/>
            </a:avLst>
          </a:prstGeom>
          <a:solidFill>
            <a:srgbClr val="C1DD93"/>
          </a:solidFill>
          <a:ln w="19050">
            <a:solidFill>
              <a:schemeClr val="tx1"/>
            </a:solidFill>
            <a:prstDash val="solid"/>
          </a:ln>
        </p:spPr>
        <p:txBody>
          <a:bodyPr wrap="non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/conf/dementia/A&amp;I/Outputs/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reference-files/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expected-diagnoses.csv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management-report/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data/</a:t>
            </a:r>
            <a:r>
              <a:rPr lang="en-GB" sz="90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yyyy-yy</a:t>
            </a:r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GB" sz="90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Qq</a:t>
            </a:r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yyyy-q_final-data.rds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yyyy</a:t>
            </a:r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q_individuals</a:t>
            </a:r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-with-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ldp.rds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yyyy-q_wait-data.rds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lookups/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pop_data.rds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AF6D6B7-9A4E-9068-B33C-590B99F6E9F5}"/>
              </a:ext>
            </a:extLst>
          </p:cNvPr>
          <p:cNvSpPr txBox="1"/>
          <p:nvPr/>
        </p:nvSpPr>
        <p:spPr>
          <a:xfrm>
            <a:off x="9130431" y="4035772"/>
            <a:ext cx="1008000" cy="562282"/>
          </a:xfrm>
          <a:prstGeom prst="roundRect">
            <a:avLst/>
          </a:prstGeom>
          <a:solidFill>
            <a:srgbClr val="35348C"/>
          </a:solidFill>
          <a:ln w="1905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GB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end_date</a:t>
            </a:r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pub_date</a:t>
            </a:r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GB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last_pub_date</a:t>
            </a:r>
            <a:endParaRPr lang="en-GB" sz="901" b="1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2F6A437F-C0BD-F926-CA75-870BA5896163}"/>
              </a:ext>
            </a:extLst>
          </p:cNvPr>
          <p:cNvSpPr txBox="1"/>
          <p:nvPr/>
        </p:nvSpPr>
        <p:spPr>
          <a:xfrm>
            <a:off x="6594154" y="3250443"/>
            <a:ext cx="1741133" cy="416055"/>
          </a:xfrm>
          <a:prstGeom prst="roundRect">
            <a:avLst>
              <a:gd name="adj" fmla="val 19651"/>
            </a:avLst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00_setup-environment.R</a:t>
            </a:r>
          </a:p>
        </p:txBody>
      </p: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07891700-2CC7-302C-B6E2-7D602C4134FB}"/>
              </a:ext>
            </a:extLst>
          </p:cNvPr>
          <p:cNvCxnSpPr>
            <a:cxnSpLocks/>
            <a:stCxn id="349" idx="2"/>
            <a:endCxn id="71" idx="0"/>
          </p:cNvCxnSpPr>
          <p:nvPr/>
        </p:nvCxnSpPr>
        <p:spPr>
          <a:xfrm flipH="1">
            <a:off x="7464720" y="3666498"/>
            <a:ext cx="1" cy="3692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CB7DF05A-D08D-2BDC-1CF0-6D71DAB79E83}"/>
              </a:ext>
            </a:extLst>
          </p:cNvPr>
          <p:cNvSpPr txBox="1"/>
          <p:nvPr/>
        </p:nvSpPr>
        <p:spPr>
          <a:xfrm>
            <a:off x="6751064" y="2164703"/>
            <a:ext cx="1427312" cy="696890"/>
          </a:xfrm>
          <a:prstGeom prst="roundRect">
            <a:avLst>
              <a:gd name="adj" fmla="val 13257"/>
            </a:avLst>
          </a:prstGeom>
          <a:solidFill>
            <a:srgbClr val="91CEEB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functions/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setup_general.R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write_file.R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render_check.R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B58174E-6713-6A32-882E-AAAE8AA1CB94}"/>
              </a:ext>
            </a:extLst>
          </p:cNvPr>
          <p:cNvCxnSpPr>
            <a:cxnSpLocks/>
            <a:stCxn id="368" idx="2"/>
            <a:endCxn id="349" idx="0"/>
          </p:cNvCxnSpPr>
          <p:nvPr/>
        </p:nvCxnSpPr>
        <p:spPr>
          <a:xfrm>
            <a:off x="7464720" y="2861593"/>
            <a:ext cx="1" cy="38885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4AF025DD-F3E9-1C48-0DCF-AC6816BE77F2}"/>
              </a:ext>
            </a:extLst>
          </p:cNvPr>
          <p:cNvSpPr txBox="1"/>
          <p:nvPr/>
        </p:nvSpPr>
        <p:spPr>
          <a:xfrm>
            <a:off x="2598474" y="2776667"/>
            <a:ext cx="1635708" cy="340377"/>
          </a:xfrm>
          <a:prstGeom prst="roundRect">
            <a:avLst/>
          </a:prstGeom>
          <a:solidFill>
            <a:srgbClr val="35348C"/>
          </a:solidFill>
          <a:ln w="19050">
            <a:solidFill>
              <a:schemeClr val="tx1"/>
            </a:solidFill>
            <a:prstDash val="solid"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399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Values to update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04F2A44-D3E8-6139-6FA8-558F52DC06C5}"/>
              </a:ext>
            </a:extLst>
          </p:cNvPr>
          <p:cNvCxnSpPr>
            <a:cxnSpLocks/>
            <a:stCxn id="154" idx="1"/>
            <a:endCxn id="6" idx="3"/>
          </p:cNvCxnSpPr>
          <p:nvPr/>
        </p:nvCxnSpPr>
        <p:spPr>
          <a:xfrm flipH="1" flipV="1">
            <a:off x="6428292" y="7781783"/>
            <a:ext cx="270213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45C2C3B6-1363-F4DA-2591-CDB196D142A6}"/>
              </a:ext>
            </a:extLst>
          </p:cNvPr>
          <p:cNvCxnSpPr>
            <a:cxnSpLocks/>
            <a:stCxn id="156" idx="1"/>
            <a:endCxn id="5" idx="3"/>
          </p:cNvCxnSpPr>
          <p:nvPr/>
        </p:nvCxnSpPr>
        <p:spPr>
          <a:xfrm flipH="1">
            <a:off x="5932227" y="9347793"/>
            <a:ext cx="3198204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3B4E5C-4B59-EB80-6AF7-761F8207C796}"/>
              </a:ext>
            </a:extLst>
          </p:cNvPr>
          <p:cNvSpPr txBox="1"/>
          <p:nvPr/>
        </p:nvSpPr>
        <p:spPr>
          <a:xfrm>
            <a:off x="984076" y="2776667"/>
            <a:ext cx="1465968" cy="340377"/>
          </a:xfrm>
          <a:prstGeom prst="roundRect">
            <a:avLst/>
          </a:prstGeom>
          <a:solidFill>
            <a:srgbClr val="9B4393"/>
          </a:solidFill>
          <a:ln w="19050">
            <a:solidFill>
              <a:schemeClr val="tx1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399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 TO RUN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E9C50B7-7A37-80C6-ECBB-DC9E99B353B9}"/>
              </a:ext>
            </a:extLst>
          </p:cNvPr>
          <p:cNvCxnSpPr>
            <a:cxnSpLocks/>
            <a:stCxn id="41" idx="2"/>
            <a:endCxn id="4" idx="0"/>
          </p:cNvCxnSpPr>
          <p:nvPr/>
        </p:nvCxnSpPr>
        <p:spPr>
          <a:xfrm rot="16200000" flipH="1">
            <a:off x="-530033" y="7325250"/>
            <a:ext cx="525824" cy="198423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247F2DC-1A73-601F-38B1-C086690606F8}"/>
              </a:ext>
            </a:extLst>
          </p:cNvPr>
          <p:cNvCxnSpPr>
            <a:cxnSpLocks/>
            <a:stCxn id="80" idx="1"/>
            <a:endCxn id="8" idx="3"/>
          </p:cNvCxnSpPr>
          <p:nvPr/>
        </p:nvCxnSpPr>
        <p:spPr>
          <a:xfrm rot="10800000">
            <a:off x="5995736" y="5541124"/>
            <a:ext cx="397729" cy="127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B0A61A8-1BE7-18AB-50FA-AC600B616BFD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rot="10800000">
            <a:off x="5995736" y="5541124"/>
            <a:ext cx="397729" cy="123478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CB35039-DDBC-6FD5-3A01-9EF491B60C38}"/>
              </a:ext>
            </a:extLst>
          </p:cNvPr>
          <p:cNvCxnSpPr>
            <a:cxnSpLocks/>
            <a:stCxn id="29" idx="2"/>
            <a:endCxn id="40" idx="0"/>
          </p:cNvCxnSpPr>
          <p:nvPr/>
        </p:nvCxnSpPr>
        <p:spPr>
          <a:xfrm rot="16200000" flipH="1">
            <a:off x="328384" y="6380634"/>
            <a:ext cx="1209510" cy="1320317"/>
          </a:xfrm>
          <a:prstGeom prst="bentConnector3">
            <a:avLst>
              <a:gd name="adj1" fmla="val 1052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1549E79-E7B3-6F4B-901A-13F27E564B34}"/>
              </a:ext>
            </a:extLst>
          </p:cNvPr>
          <p:cNvCxnSpPr>
            <a:cxnSpLocks/>
            <a:stCxn id="30" idx="2"/>
            <a:endCxn id="4" idx="0"/>
          </p:cNvCxnSpPr>
          <p:nvPr/>
        </p:nvCxnSpPr>
        <p:spPr>
          <a:xfrm rot="16200000" flipH="1">
            <a:off x="259595" y="8114878"/>
            <a:ext cx="525824" cy="40497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6C2CB405-85FF-7EC9-186F-64EA22B2E779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>
            <a:off x="1511430" y="7268019"/>
            <a:ext cx="525824" cy="20986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B1934113-0BFD-0000-E088-AD3122AA4923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flipH="1">
            <a:off x="3505927" y="5541124"/>
            <a:ext cx="74924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F3EE1511-9EC3-7248-7AC6-8603CF084BD9}"/>
              </a:ext>
            </a:extLst>
          </p:cNvPr>
          <p:cNvCxnSpPr>
            <a:cxnSpLocks/>
            <a:stCxn id="348" idx="1"/>
            <a:endCxn id="71" idx="3"/>
          </p:cNvCxnSpPr>
          <p:nvPr/>
        </p:nvCxnSpPr>
        <p:spPr>
          <a:xfrm flipH="1">
            <a:off x="8535976" y="4316913"/>
            <a:ext cx="59445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: Elbow 403">
            <a:extLst>
              <a:ext uri="{FF2B5EF4-FFF2-40B4-BE49-F238E27FC236}">
                <a16:creationId xmlns:a16="http://schemas.microsoft.com/office/drawing/2014/main" id="{3DBB9252-4464-EDF2-46CF-DA6B82ADC506}"/>
              </a:ext>
            </a:extLst>
          </p:cNvPr>
          <p:cNvCxnSpPr>
            <a:cxnSpLocks/>
            <a:stCxn id="11" idx="2"/>
            <a:endCxn id="40" idx="0"/>
          </p:cNvCxnSpPr>
          <p:nvPr/>
        </p:nvCxnSpPr>
        <p:spPr>
          <a:xfrm rot="5400000">
            <a:off x="1390486" y="6638850"/>
            <a:ext cx="1209510" cy="803886"/>
          </a:xfrm>
          <a:prstGeom prst="bentConnector3">
            <a:avLst>
              <a:gd name="adj1" fmla="val 1052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: Elbow 406">
            <a:extLst>
              <a:ext uri="{FF2B5EF4-FFF2-40B4-BE49-F238E27FC236}">
                <a16:creationId xmlns:a16="http://schemas.microsoft.com/office/drawing/2014/main" id="{37E61B92-114A-AE98-45A9-CA83C726C38D}"/>
              </a:ext>
            </a:extLst>
          </p:cNvPr>
          <p:cNvCxnSpPr>
            <a:cxnSpLocks/>
            <a:stCxn id="40" idx="2"/>
            <a:endCxn id="4" idx="0"/>
          </p:cNvCxnSpPr>
          <p:nvPr/>
        </p:nvCxnSpPr>
        <p:spPr>
          <a:xfrm rot="5400000">
            <a:off x="896235" y="7883215"/>
            <a:ext cx="525824" cy="86830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: Elbow 434">
            <a:extLst>
              <a:ext uri="{FF2B5EF4-FFF2-40B4-BE49-F238E27FC236}">
                <a16:creationId xmlns:a16="http://schemas.microsoft.com/office/drawing/2014/main" id="{DFE479F0-BC96-238D-1044-C2667844BFDA}"/>
              </a:ext>
            </a:extLst>
          </p:cNvPr>
          <p:cNvCxnSpPr>
            <a:cxnSpLocks/>
            <a:stCxn id="71" idx="1"/>
            <a:endCxn id="8" idx="3"/>
          </p:cNvCxnSpPr>
          <p:nvPr/>
        </p:nvCxnSpPr>
        <p:spPr>
          <a:xfrm rot="10800000" flipV="1">
            <a:off x="5995736" y="4316912"/>
            <a:ext cx="397729" cy="122421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7F81D2-5F85-CB7D-5FB9-E27E02297DAE}"/>
              </a:ext>
            </a:extLst>
          </p:cNvPr>
          <p:cNvSpPr txBox="1"/>
          <p:nvPr/>
        </p:nvSpPr>
        <p:spPr>
          <a:xfrm>
            <a:off x="-1967867" y="4663657"/>
            <a:ext cx="724540" cy="4426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C70A8-0CCA-AC6B-7EF2-F3CA6CA7562C}"/>
              </a:ext>
            </a:extLst>
          </p:cNvPr>
          <p:cNvSpPr txBox="1"/>
          <p:nvPr/>
        </p:nvSpPr>
        <p:spPr>
          <a:xfrm>
            <a:off x="7185239" y="8282779"/>
            <a:ext cx="1733967" cy="562282"/>
          </a:xfrm>
          <a:prstGeom prst="roundRect">
            <a:avLst/>
          </a:prstGeom>
          <a:solidFill>
            <a:srgbClr val="C38EBE"/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/conf/dementia/A&amp;I/Outputs/</a:t>
            </a:r>
          </a:p>
          <a:p>
            <a:r>
              <a:rPr lang="en-GB" sz="90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dashboard/</a:t>
            </a:r>
          </a:p>
          <a:p>
            <a:r>
              <a:rPr lang="en-GB" sz="901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GB" sz="901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passwords.R</a:t>
            </a:r>
            <a:endParaRPr lang="en-GB" sz="901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840BC-10EE-990B-918E-6D5C7C5BF62F}"/>
              </a:ext>
            </a:extLst>
          </p:cNvPr>
          <p:cNvSpPr txBox="1"/>
          <p:nvPr/>
        </p:nvSpPr>
        <p:spPr>
          <a:xfrm>
            <a:off x="9130431" y="8221731"/>
            <a:ext cx="1008000" cy="684378"/>
          </a:xfrm>
          <a:prstGeom prst="roundRect">
            <a:avLst>
              <a:gd name="adj" fmla="val 10157"/>
            </a:avLst>
          </a:prstGeom>
          <a:solidFill>
            <a:srgbClr val="35348C"/>
          </a:solidFill>
          <a:ln w="1905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fr-FR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 </a:t>
            </a:r>
          </a:p>
          <a:p>
            <a:r>
              <a:rPr lang="fr-FR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password</a:t>
            </a:r>
            <a:endParaRPr lang="fr-FR" sz="901" b="1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token</a:t>
            </a:r>
          </a:p>
          <a:p>
            <a:r>
              <a:rPr lang="en-GB" sz="901" b="1" dirty="0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secret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98BF0F1-935C-DA1B-2B08-1B680FC8AB26}"/>
              </a:ext>
            </a:extLst>
          </p:cNvPr>
          <p:cNvCxnSpPr>
            <a:cxnSpLocks/>
            <a:stCxn id="10" idx="0"/>
            <a:endCxn id="6" idx="3"/>
          </p:cNvCxnSpPr>
          <p:nvPr/>
        </p:nvCxnSpPr>
        <p:spPr>
          <a:xfrm rot="16200000" flipV="1">
            <a:off x="6989760" y="7220315"/>
            <a:ext cx="500996" cy="1623931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CE5FA0B-6FC9-9610-D53B-0E6AB888AC0D}"/>
              </a:ext>
            </a:extLst>
          </p:cNvPr>
          <p:cNvCxnSpPr>
            <a:cxnSpLocks/>
            <a:stCxn id="10" idx="2"/>
            <a:endCxn id="5" idx="3"/>
          </p:cNvCxnSpPr>
          <p:nvPr/>
        </p:nvCxnSpPr>
        <p:spPr>
          <a:xfrm rot="5400000">
            <a:off x="6740859" y="8036429"/>
            <a:ext cx="502733" cy="211999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FFAA958-39D8-554E-B217-947629FF3DD1}"/>
              </a:ext>
            </a:extLst>
          </p:cNvPr>
          <p:cNvSpPr txBox="1"/>
          <p:nvPr/>
        </p:nvSpPr>
        <p:spPr>
          <a:xfrm>
            <a:off x="9130431" y="7659602"/>
            <a:ext cx="1008000" cy="244363"/>
          </a:xfrm>
          <a:prstGeom prst="roundRect">
            <a:avLst>
              <a:gd name="adj" fmla="val 10157"/>
            </a:avLst>
          </a:prstGeom>
          <a:solidFill>
            <a:srgbClr val="35348C"/>
          </a:solidFill>
          <a:ln w="1905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fr-FR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secure_app</a:t>
            </a:r>
            <a:endParaRPr lang="fr-FR" sz="901" b="1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6CE0545-01E9-9581-17C4-8A2F01DEFA4C}"/>
              </a:ext>
            </a:extLst>
          </p:cNvPr>
          <p:cNvSpPr txBox="1"/>
          <p:nvPr/>
        </p:nvSpPr>
        <p:spPr>
          <a:xfrm>
            <a:off x="9130431" y="9152276"/>
            <a:ext cx="1008000" cy="391034"/>
          </a:xfrm>
          <a:prstGeom prst="roundRect">
            <a:avLst>
              <a:gd name="adj" fmla="val 10700"/>
            </a:avLst>
          </a:prstGeom>
          <a:solidFill>
            <a:srgbClr val="35348C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filepath</a:t>
            </a:r>
            <a:endParaRPr lang="en-GB" sz="901" b="1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901" b="1" dirty="0" err="1">
                <a:solidFill>
                  <a:schemeClr val="bg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appName</a:t>
            </a:r>
            <a:endParaRPr lang="en-GB" sz="901" b="1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D585CD4-75FB-A5EF-394A-1274DD73BF03}"/>
              </a:ext>
            </a:extLst>
          </p:cNvPr>
          <p:cNvCxnSpPr>
            <a:cxnSpLocks/>
            <a:stCxn id="14" idx="1"/>
            <a:endCxn id="10" idx="3"/>
          </p:cNvCxnSpPr>
          <p:nvPr/>
        </p:nvCxnSpPr>
        <p:spPr>
          <a:xfrm flipH="1">
            <a:off x="8919206" y="8563920"/>
            <a:ext cx="21122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6FB8E1C-63DE-5EB4-FCD8-FB4651A037B9}"/>
              </a:ext>
            </a:extLst>
          </p:cNvPr>
          <p:cNvCxnSpPr>
            <a:cxnSpLocks/>
            <a:stCxn id="3" idx="2"/>
            <a:endCxn id="5" idx="1"/>
          </p:cNvCxnSpPr>
          <p:nvPr/>
        </p:nvCxnSpPr>
        <p:spPr>
          <a:xfrm rot="16200000" flipH="1">
            <a:off x="2485832" y="7455667"/>
            <a:ext cx="163155" cy="3621098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66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575F-6A80-2E72-4399-F47C988C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90" y="649117"/>
            <a:ext cx="5915025" cy="1081712"/>
          </a:xfrm>
        </p:spPr>
        <p:txBody>
          <a:bodyPr/>
          <a:lstStyle/>
          <a:p>
            <a:r>
              <a:rPr lang="en-GB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949B-3E3F-C455-22FC-CDD32B71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</a:t>
            </a:r>
            <a:r>
              <a:rPr lang="en-GB" b="1" dirty="0"/>
              <a:t>run</a:t>
            </a:r>
            <a:r>
              <a:rPr lang="en-GB" dirty="0"/>
              <a:t> the app locally the following scripts must be run:</a:t>
            </a:r>
          </a:p>
          <a:p>
            <a:pPr lvl="1"/>
            <a:r>
              <a:rPr lang="en-GB" dirty="0"/>
              <a:t>dementia-</a:t>
            </a:r>
            <a:r>
              <a:rPr lang="en-GB" dirty="0" err="1"/>
              <a:t>pds</a:t>
            </a:r>
            <a:r>
              <a:rPr lang="en-GB" dirty="0"/>
              <a:t>/dashboard/</a:t>
            </a:r>
            <a:r>
              <a:rPr lang="en-GB" dirty="0" err="1"/>
              <a:t>deploy_app</a:t>
            </a:r>
            <a:r>
              <a:rPr lang="en-GB" dirty="0"/>
              <a:t>/ </a:t>
            </a:r>
            <a:r>
              <a:rPr lang="en-GB" b="1" dirty="0"/>
              <a:t>1_PREPARE_DATA.R</a:t>
            </a:r>
          </a:p>
          <a:p>
            <a:pPr lvl="1"/>
            <a:r>
              <a:rPr lang="en-GB" dirty="0"/>
              <a:t>dementia-</a:t>
            </a:r>
            <a:r>
              <a:rPr lang="en-GB" dirty="0" err="1"/>
              <a:t>pds</a:t>
            </a:r>
            <a:r>
              <a:rPr lang="en-GB" dirty="0"/>
              <a:t>/dashboard/</a:t>
            </a:r>
            <a:r>
              <a:rPr lang="en-GB" dirty="0" err="1"/>
              <a:t>deploy_app</a:t>
            </a:r>
            <a:r>
              <a:rPr lang="en-GB" dirty="0"/>
              <a:t>/ </a:t>
            </a:r>
            <a:r>
              <a:rPr lang="en-GB" b="1" dirty="0"/>
              <a:t>2_CREATE_ADMIN_CREDENTIALS.R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 </a:t>
            </a:r>
            <a:r>
              <a:rPr lang="en-GB" b="1" dirty="0"/>
              <a:t>deploy</a:t>
            </a:r>
            <a:r>
              <a:rPr lang="en-GB" dirty="0"/>
              <a:t> the app to the server the following script must be run:</a:t>
            </a:r>
          </a:p>
          <a:p>
            <a:pPr lvl="1"/>
            <a:r>
              <a:rPr lang="en-GB" dirty="0"/>
              <a:t>dementia-</a:t>
            </a:r>
            <a:r>
              <a:rPr lang="en-GB" dirty="0" err="1"/>
              <a:t>pds</a:t>
            </a:r>
            <a:r>
              <a:rPr lang="en-GB" dirty="0"/>
              <a:t>/dashboard/</a:t>
            </a:r>
            <a:r>
              <a:rPr lang="en-GB" dirty="0" err="1"/>
              <a:t>deploy_app</a:t>
            </a:r>
            <a:r>
              <a:rPr lang="en-GB" dirty="0"/>
              <a:t>/3_DEPLOY_APP.R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 update </a:t>
            </a:r>
            <a:r>
              <a:rPr lang="en-GB" b="1" dirty="0" err="1"/>
              <a:t>end_date</a:t>
            </a:r>
            <a:r>
              <a:rPr lang="en-GB" dirty="0"/>
              <a:t>, </a:t>
            </a:r>
            <a:r>
              <a:rPr lang="en-GB" b="1" dirty="0" err="1"/>
              <a:t>pub_date</a:t>
            </a:r>
            <a:r>
              <a:rPr lang="en-GB" dirty="0"/>
              <a:t> and </a:t>
            </a:r>
            <a:r>
              <a:rPr lang="en-GB" b="1" dirty="0" err="1"/>
              <a:t>last_pub_date</a:t>
            </a:r>
            <a:r>
              <a:rPr lang="en-GB" dirty="0"/>
              <a:t>, go to:</a:t>
            </a:r>
          </a:p>
          <a:p>
            <a:pPr lvl="1"/>
            <a:r>
              <a:rPr lang="en-GB" dirty="0"/>
              <a:t>dementia-</a:t>
            </a:r>
            <a:r>
              <a:rPr lang="en-GB" dirty="0" err="1"/>
              <a:t>pds</a:t>
            </a:r>
            <a:r>
              <a:rPr lang="en-GB" dirty="0"/>
              <a:t>/code/publication/</a:t>
            </a:r>
            <a:r>
              <a:rPr lang="en-GB" b="1" dirty="0"/>
              <a:t>00_setup-pub-environment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 update </a:t>
            </a:r>
            <a:r>
              <a:rPr lang="en-GB" b="1" dirty="0"/>
              <a:t>user</a:t>
            </a:r>
            <a:r>
              <a:rPr lang="en-GB" dirty="0"/>
              <a:t>, </a:t>
            </a:r>
            <a:r>
              <a:rPr lang="en-GB" b="1" dirty="0"/>
              <a:t>password</a:t>
            </a:r>
            <a:r>
              <a:rPr lang="en-GB" dirty="0"/>
              <a:t>, </a:t>
            </a:r>
            <a:r>
              <a:rPr lang="en-GB" b="1" dirty="0"/>
              <a:t>token</a:t>
            </a:r>
            <a:r>
              <a:rPr lang="en-GB" dirty="0"/>
              <a:t> and </a:t>
            </a:r>
            <a:r>
              <a:rPr lang="en-GB" b="1" dirty="0"/>
              <a:t>secret</a:t>
            </a:r>
            <a:r>
              <a:rPr lang="en-GB" dirty="0"/>
              <a:t>, go to:</a:t>
            </a:r>
          </a:p>
          <a:p>
            <a:pPr lvl="1"/>
            <a:r>
              <a:rPr lang="en-GB" dirty="0"/>
              <a:t>/conf/dementia/A&amp;I/Outputs/dashboard/</a:t>
            </a:r>
            <a:r>
              <a:rPr lang="en-GB" b="1" dirty="0" err="1"/>
              <a:t>passwords.R</a:t>
            </a:r>
            <a:endParaRPr lang="en-GB" b="1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679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4199b9c-a89e-442f-9799-431511f14748}" enabled="1" method="Privileged" siteId="{10efe0bd-a030-4bca-809c-b5e6745e49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2009</TotalTime>
  <Words>513</Words>
  <Application>Microsoft Office PowerPoint</Application>
  <PresentationFormat>Widescreen</PresentationFormat>
  <Paragraphs>103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Binsted</dc:creator>
  <cp:lastModifiedBy>Lucy Binsted</cp:lastModifiedBy>
  <cp:revision>13</cp:revision>
  <dcterms:created xsi:type="dcterms:W3CDTF">2026-01-12T09:52:20Z</dcterms:created>
  <dcterms:modified xsi:type="dcterms:W3CDTF">2026-02-17T12:31:21Z</dcterms:modified>
</cp:coreProperties>
</file>